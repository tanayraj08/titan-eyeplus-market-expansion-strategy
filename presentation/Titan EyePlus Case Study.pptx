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F2937"/>
                </a:solidFill>
                <a:latin typeface="Arial"/>
              </a:rPr>
              <a:t>FY25 Revenue (₹Cr)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Titan Eye+</c:v>
                </c:pt>
              </c:strCache>
            </c:strRef>
          </c:tx>
          <c:spPr>
            <a:solidFill>
              <a:srgbClr val="3DB6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Revenue (₹Cr)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4-4CCC-B60F-14CBE255C8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Lenskart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Revenue (₹Cr)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74-4CCC-B60F-14CBE255C8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4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F2937"/>
                </a:solidFill>
                <a:latin typeface="Arial"/>
              </a:rPr>
              <a:t>India Store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Titan Eye+</c:v>
                </c:pt>
              </c:strCache>
            </c:strRef>
          </c:tx>
          <c:spPr>
            <a:solidFill>
              <a:srgbClr val="3DB6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India Stores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FB-4F21-BA30-21AAA6C948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Lenskart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India Stores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FB-4F21-BA30-21AAA6C948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4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Jewellery</c:v>
                </c:pt>
              </c:strCache>
            </c:strRef>
          </c:tx>
          <c:spPr>
            <a:solidFill>
              <a:srgbClr val="FF9142"/>
            </a:solidFill>
            <a:effectLst/>
          </c:spPr>
          <c:invertIfNegative val="0"/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63-4145-BFAA-C69257DB09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Watches &amp; Wearables</c:v>
                </c:pt>
              </c:strCache>
            </c:strRef>
          </c:tx>
          <c:spPr>
            <a:solidFill>
              <a:srgbClr val="3DB6E8"/>
            </a:solidFill>
            <a:effectLst/>
          </c:spPr>
          <c:invertIfNegative val="0"/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63-4145-BFAA-C69257DB09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Emerging &amp; Other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63-4145-BFAA-C69257DB09C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Eyecare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963-4145-BFAA-C69257DB09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US" sz="1150" b="0" i="0" u="none" strike="noStrike">
                <a:solidFill>
                  <a:srgbClr val="1F2937"/>
                </a:solidFill>
                <a:latin typeface="Arial"/>
              </a:rPr>
              <a:t>India Eyewear Market TAM ($B)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Eyewear Market ($B)</c:v>
                </c:pt>
              </c:strCache>
            </c:strRef>
          </c:tx>
          <c:spPr>
            <a:solidFill>
              <a:srgbClr val="FF9142">
                <a:alpha val="35000"/>
              </a:srgbClr>
            </a:solidFill>
            <a:effectLst/>
          </c:spP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2014</c:v>
                </c:pt>
                <c:pt idx="1">
                  <c:v>2024</c:v>
                </c:pt>
                <c:pt idx="2">
                  <c:v>2028E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3.17</c:v>
                </c:pt>
                <c:pt idx="1">
                  <c:v>6.1</c:v>
                </c:pt>
                <c:pt idx="2">
                  <c:v>8.15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3D-4B39-A722-55D0DACE23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4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US" sz="1050" b="0" i="0" u="none" strike="noStrike">
                <a:solidFill>
                  <a:srgbClr val="1F2937"/>
                </a:solidFill>
                <a:latin typeface="Arial"/>
              </a:rPr>
              <a:t>Organized vs. Unorganized Split ($B)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Organized</c:v>
                </c:pt>
              </c:strCache>
            </c:strRef>
          </c:tx>
          <c:spPr>
            <a:solidFill>
              <a:srgbClr val="3DB6E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2024 Market ($B)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4F-4A27-B714-1D6BCE8BC9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Unorganized (SAM)</c:v>
                </c:pt>
              </c:strCache>
            </c:strRef>
          </c:tx>
          <c:spPr>
            <a:solidFill>
              <a:srgbClr val="FF914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2024 Market ($B)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4F-4A27-B714-1D6BCE8BC9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IN" sz="1250" b="0" i="0" u="none" strike="noStrike">
                <a:solidFill>
                  <a:srgbClr val="1F2937"/>
                </a:solidFill>
                <a:latin typeface="Arial"/>
              </a:rPr>
              <a:t>FY25 Profitability Margin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 / PAT Margin (%)</c:v>
                </c:pt>
              </c:strCache>
            </c:strRef>
          </c:tx>
          <c:spPr>
            <a:solidFill>
              <a:srgbClr val="FF914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Titan Eyecare (EBIT Margin)</c:v>
                </c:pt>
                <c:pt idx="1">
                  <c:v>Lenskart (PAT Margin)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10.7</c:v>
                </c:pt>
                <c:pt idx="1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AE-468D-A3BD-6720F4C246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4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FFFFFF"/>
                </a:solidFill>
                <a:latin typeface="Arial"/>
              </a:rPr>
              <a:t>Revenue Growth Path (₹Cr)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Eyewear Revenue (₹Cr)</c:v>
                </c:pt>
              </c:strCache>
            </c:strRef>
          </c:tx>
          <c:spPr>
            <a:solidFill>
              <a:srgbClr val="FF9142">
                <a:alpha val="70000"/>
              </a:srgbClr>
            </a:solidFill>
            <a:effectLst/>
          </c:spP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FY25</c:v>
                </c:pt>
                <c:pt idx="1">
                  <c:v>FY27E</c:v>
                </c:pt>
                <c:pt idx="2">
                  <c:v>FY29E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796</c:v>
                </c:pt>
                <c:pt idx="1">
                  <c:v>1150</c:v>
                </c:pt>
                <c:pt idx="2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74-40BC-BED2-1B3364F2A6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E0E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6B4A8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E0E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043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3E255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4846320" cy="685800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8229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3E2554"/>
          </a:solidFill>
          <a:ln/>
        </p:spPr>
      </p:sp>
      <p:pic>
        <p:nvPicPr>
          <p:cNvPr id="5" name="Image 0" descr="icons/g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10094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8745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to Compete in India's Eyewear Market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6B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Strategy Case Study — Market Sizing, Competitive Strategy &amp; Growth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5806440"/>
            <a:ext cx="1645920" cy="0"/>
          </a:xfrm>
          <a:prstGeom prst="line">
            <a:avLst/>
          </a:prstGeom>
          <a:noFill/>
          <a:ln w="31750">
            <a:solidFill>
              <a:srgbClr val="FF91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989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Tanay Raj  |  Independent Strategy Case Analysis  |  2026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6858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01000" y="85039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$6.1B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1554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Eyewear TAM, 2024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0" y="24688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01000" y="263347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337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Lenskart's Organized-Market Share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0" y="42519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01000" y="44165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1.5%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5120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Eyewear's Share of Titan's Revenue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g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is profitable and trusted, but small — and strategically under-prioritized inside Titan's diversified portfolio. Lenskart has used a tech-first, omnichannel model to capture 41% of India's organized eyewear market, while 80% of the category remains unorganized and up for grabs. The opportunity isn't to out-Lenskart Lenskart — it's to convert Titan's brand trust into share of that unorganized whitespace.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3E255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651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9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₹796Cr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FY25 revenue, at a 10.7% EBIT margin 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2468880"/>
            <a:ext cx="7178040" cy="502920"/>
          </a:xfrm>
          <a:prstGeom prst="roundRect">
            <a:avLst>
              <a:gd name="adj" fmla="val 10909"/>
            </a:avLst>
          </a:prstGeom>
          <a:solidFill>
            <a:srgbClr val="FDE9F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1772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6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2,137 vs 900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24688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 vs. Titan Eye+ store count in India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34840" y="3090672"/>
            <a:ext cx="7178040" cy="502920"/>
          </a:xfrm>
          <a:prstGeom prst="roundRect">
            <a:avLst>
              <a:gd name="adj" fmla="val 10909"/>
            </a:avLst>
          </a:prstGeom>
          <a:solidFill>
            <a:srgbClr val="E1F3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17720" y="3090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6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30906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$6.1B eyewear market still unorganized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34840" y="3712464"/>
            <a:ext cx="7178040" cy="502920"/>
          </a:xfrm>
          <a:prstGeom prst="roundRect">
            <a:avLst>
              <a:gd name="adj" fmla="val 10909"/>
            </a:avLst>
          </a:prstGeom>
          <a:solidFill>
            <a:srgbClr val="FDE9F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17720" y="37124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6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1.5%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371246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Titan's total ₹57,143Cr FY25 revenue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914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599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91947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 dual-channel strategy — trust-led offline expansion into Tier-2/3 cities paired with an accelerated e-commerce push — guided by a new Organized Conversion Opportunity Score, targeting a doubling of eyewear revenue to ~₹1,600Cr within 4 years without sacrificing margin leadership.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· 1 OF 2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Trusted Brand, Losing the Scale Race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457200" y="146304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57200" y="374904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6126480" y="14630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3E2554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 Isn't Quality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400800" y="21945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still leads on trust and margin discipline. But Lenskart's tech-first, omnichannel model — remote eye tests, home try-ons, rapid store rollout — has let it out-scale every organized competitor, including Reliance's Vision Express.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400800" y="3657600"/>
            <a:ext cx="5029200" cy="0"/>
          </a:xfrm>
          <a:prstGeom prst="line">
            <a:avLst/>
          </a:prstGeom>
          <a:noFill/>
          <a:ln w="12700">
            <a:solidFill>
              <a:srgbClr val="6B4A8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400800" y="3840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0" y="45720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Lenskart's share of India's organized eyewear market — more than any competitor, including Titan and Reliance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pie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· 2 OF 2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Eyewear Is an Afterthought Inside Titan's Portfolio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Company FY25 Revenue Composition — ₹57,143Cr Total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1828800"/>
          <a:ext cx="110642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794760"/>
            <a:ext cx="128016" cy="457200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" y="37033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   ₹47,640Cr  (83.4%)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120640" y="370332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Tanishq, Mia, Zoya — Titan's core growth and profit engine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453128"/>
            <a:ext cx="128016" cy="457200"/>
          </a:xfrm>
          <a:prstGeom prst="rect">
            <a:avLst/>
          </a:prstGeom>
          <a:solidFill>
            <a:srgbClr val="3DB6E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436168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&amp; Wearables   ₹4,576Cr  (8.0%)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436168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high-margin, well-established category leadership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5111496"/>
            <a:ext cx="128016" cy="457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502005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&amp; Other   ₹4,131Cr  (7.2%)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120640" y="5020056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Taneira, fragrances, international — early-stage bets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5769864"/>
            <a:ext cx="128016" cy="4572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22960" y="567842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Eyecare   ₹796Cr  (1.4%)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120640" y="5678424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Profitable, but too small to command board-level priority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· 1 OF 2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the Prize: TAM, SAM, and the Unorganized Gap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457200" y="1417320"/>
          <a:ext cx="54864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7.54% CAGR, 2024–2028</a:t>
            </a:r>
            <a:endParaRPr lang="en-US" sz="10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57200" y="4480560"/>
          <a:ext cx="54864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6309360" y="141732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3E2554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629400" y="16459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Unorganized Segment Is Titan's Real SAM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629400" y="2377440"/>
            <a:ext cx="100584" cy="100584"/>
          </a:xfrm>
          <a:prstGeom prst="ellipse">
            <a:avLst/>
          </a:prstGeom>
          <a:solidFill>
            <a:srgbClr val="FF914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858000" y="22128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opticians dominate by default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0" y="253288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loyalty — most consumers have never had a trusted branded alternative nearby.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29400" y="3429000"/>
            <a:ext cx="100584" cy="100584"/>
          </a:xfrm>
          <a:prstGeom prst="ellipse">
            <a:avLst/>
          </a:prstGeom>
          <a:solidFill>
            <a:srgbClr val="FF914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58000" y="3264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deciding factor here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0" y="358444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price-led online buyers, unorganized-market customers value a name they recognize.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629400" y="4480560"/>
            <a:ext cx="100584" cy="100584"/>
          </a:xfrm>
          <a:prstGeom prst="ellipse">
            <a:avLst/>
          </a:prstGeom>
          <a:solidFill>
            <a:srgbClr val="FF914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58000" y="4315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 already proved the model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46360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growth came largely from converting unorganized demand, not stealing organized rivals' customers.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629400" y="5532120"/>
            <a:ext cx="100584" cy="100584"/>
          </a:xfrm>
          <a:prstGeom prst="ellipse">
            <a:avLst/>
          </a:prstGeom>
          <a:solidFill>
            <a:srgbClr val="FF914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858000" y="53675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doesn't need to win online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0" y="568756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to win the offline conversion race in cities where trust beats convenience.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· 2 OF 2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 Already Wins on Margin — Scale Is the Only Gap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457200" y="155448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858000" y="169164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DE9F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0561320" y="15819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F6C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800" dirty="0"/>
          </a:p>
        </p:txBody>
      </p:sp>
      <p:sp>
        <p:nvSpPr>
          <p:cNvPr id="11" name="Text 7"/>
          <p:cNvSpPr txBox="1"/>
          <p:nvPr/>
        </p:nvSpPr>
        <p:spPr>
          <a:xfrm>
            <a:off x="7077456" y="19110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 EBIT Margin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077456" y="23500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Eyecare's FY25 margin — despite a fraction of Lenskart's scale.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58000" y="32004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E1F3F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0561320" y="30906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F6C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800" dirty="0"/>
          </a:p>
        </p:txBody>
      </p:sp>
      <p:sp>
        <p:nvSpPr>
          <p:cNvPr id="15" name="Text 11"/>
          <p:cNvSpPr txBox="1"/>
          <p:nvPr/>
        </p:nvSpPr>
        <p:spPr>
          <a:xfrm>
            <a:off x="7077456" y="34198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~8x Scale Gap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077456" y="38587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Lenskart's revenue multiple over Titan Eye+, yet a thinner margin.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implication: Titan doesn't need to sacrifice margin discipline to grow — it needs enough scale to let its already-efficient model compound.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1 OF 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Framework: Organized Conversion Opportunity Score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DE9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Brand-Trust Sensitivity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markets where consumers value a recognized name over the lowest price.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5196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1F3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3484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Readiness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43484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digital infrastructure and online-purchase comfort.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55280" y="14173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DE9F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3816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White Space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markets with low organized penetration and limited rival presence.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9718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3E255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OCOS  =  w1(Brand-Trust Sensitivity)  +  w2(E-Commerce Readiness)  +  w3(Competitive White Space)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Score Comparison: Two Expansion Archetypes (0–10 scale)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Tier-2/3 Offline Expansion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78408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Metro E-Commerce Push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1148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Brand-Trust Sensitivity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0" y="4114800"/>
            <a:ext cx="8595360" cy="237744"/>
          </a:xfrm>
          <a:prstGeom prst="roundRect">
            <a:avLst>
              <a:gd name="adj" fmla="val 11538"/>
            </a:avLst>
          </a:prstGeom>
          <a:solidFill>
            <a:srgbClr val="F0F0EE"/>
          </a:solidFill>
          <a:ln/>
        </p:spPr>
      </p:sp>
      <p:sp>
        <p:nvSpPr>
          <p:cNvPr id="24" name="Shape 21"/>
          <p:cNvSpPr/>
          <p:nvPr/>
        </p:nvSpPr>
        <p:spPr>
          <a:xfrm>
            <a:off x="2743200" y="4114800"/>
            <a:ext cx="7735824" cy="237744"/>
          </a:xfrm>
          <a:prstGeom prst="roundRect">
            <a:avLst>
              <a:gd name="adj" fmla="val 11538"/>
            </a:avLst>
          </a:prstGeom>
          <a:solidFill>
            <a:srgbClr val="EF476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552176" y="411480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0" y="4425696"/>
            <a:ext cx="8595360" cy="237744"/>
          </a:xfrm>
          <a:prstGeom prst="roundRect">
            <a:avLst>
              <a:gd name="adj" fmla="val 11538"/>
            </a:avLst>
          </a:prstGeom>
          <a:solidFill>
            <a:srgbClr val="F0F0EE"/>
          </a:solidFill>
          <a:ln/>
        </p:spPr>
      </p:sp>
      <p:sp>
        <p:nvSpPr>
          <p:cNvPr id="27" name="Shape 24"/>
          <p:cNvSpPr/>
          <p:nvPr/>
        </p:nvSpPr>
        <p:spPr>
          <a:xfrm>
            <a:off x="2743200" y="4425696"/>
            <a:ext cx="4297680" cy="237744"/>
          </a:xfrm>
          <a:prstGeom prst="roundRect">
            <a:avLst>
              <a:gd name="adj" fmla="val 11538"/>
            </a:avLst>
          </a:prstGeom>
          <a:solidFill>
            <a:srgbClr val="3DB6E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114032" y="44256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8646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Readiness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0" y="4864608"/>
            <a:ext cx="8595360" cy="237744"/>
          </a:xfrm>
          <a:prstGeom prst="roundRect">
            <a:avLst>
              <a:gd name="adj" fmla="val 11538"/>
            </a:avLst>
          </a:prstGeom>
          <a:solidFill>
            <a:srgbClr val="F0F0EE"/>
          </a:solidFill>
          <a:ln/>
        </p:spPr>
      </p:sp>
      <p:sp>
        <p:nvSpPr>
          <p:cNvPr id="31" name="Shape 28"/>
          <p:cNvSpPr/>
          <p:nvPr/>
        </p:nvSpPr>
        <p:spPr>
          <a:xfrm>
            <a:off x="2743200" y="4864608"/>
            <a:ext cx="3438144" cy="237744"/>
          </a:xfrm>
          <a:prstGeom prst="roundRect">
            <a:avLst>
              <a:gd name="adj" fmla="val 11538"/>
            </a:avLst>
          </a:prstGeom>
          <a:solidFill>
            <a:srgbClr val="EF476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54496" y="486460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0" y="5175504"/>
            <a:ext cx="8595360" cy="237744"/>
          </a:xfrm>
          <a:prstGeom prst="roundRect">
            <a:avLst>
              <a:gd name="adj" fmla="val 11538"/>
            </a:avLst>
          </a:prstGeom>
          <a:solidFill>
            <a:srgbClr val="F0F0EE"/>
          </a:solidFill>
          <a:ln/>
        </p:spPr>
      </p:sp>
      <p:sp>
        <p:nvSpPr>
          <p:cNvPr id="34" name="Shape 31"/>
          <p:cNvSpPr/>
          <p:nvPr/>
        </p:nvSpPr>
        <p:spPr>
          <a:xfrm>
            <a:off x="2743200" y="5175504"/>
            <a:ext cx="7735824" cy="237744"/>
          </a:xfrm>
          <a:prstGeom prst="roundRect">
            <a:avLst>
              <a:gd name="adj" fmla="val 11538"/>
            </a:avLst>
          </a:prstGeom>
          <a:solidFill>
            <a:srgbClr val="3DB6E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552176" y="517550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61441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White Space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743200" y="5614416"/>
            <a:ext cx="8595360" cy="237744"/>
          </a:xfrm>
          <a:prstGeom prst="roundRect">
            <a:avLst>
              <a:gd name="adj" fmla="val 11538"/>
            </a:avLst>
          </a:prstGeom>
          <a:solidFill>
            <a:srgbClr val="F0F0EE"/>
          </a:solidFill>
          <a:ln/>
        </p:spPr>
      </p:sp>
      <p:sp>
        <p:nvSpPr>
          <p:cNvPr id="38" name="Shape 35"/>
          <p:cNvSpPr/>
          <p:nvPr/>
        </p:nvSpPr>
        <p:spPr>
          <a:xfrm>
            <a:off x="2743200" y="5614416"/>
            <a:ext cx="6876288" cy="237744"/>
          </a:xfrm>
          <a:prstGeom prst="roundRect">
            <a:avLst>
              <a:gd name="adj" fmla="val 11538"/>
            </a:avLst>
          </a:prstGeom>
          <a:solidFill>
            <a:srgbClr val="EF476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692640" y="561441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743200" y="5925312"/>
            <a:ext cx="8595360" cy="237744"/>
          </a:xfrm>
          <a:prstGeom prst="roundRect">
            <a:avLst>
              <a:gd name="adj" fmla="val 11538"/>
            </a:avLst>
          </a:prstGeom>
          <a:solidFill>
            <a:srgbClr val="F0F0EE"/>
          </a:solidFill>
          <a:ln/>
        </p:spPr>
      </p:sp>
      <p:sp>
        <p:nvSpPr>
          <p:cNvPr id="41" name="Shape 38"/>
          <p:cNvSpPr/>
          <p:nvPr/>
        </p:nvSpPr>
        <p:spPr>
          <a:xfrm>
            <a:off x="2743200" y="5925312"/>
            <a:ext cx="2578608" cy="237744"/>
          </a:xfrm>
          <a:prstGeom prst="roundRect">
            <a:avLst>
              <a:gd name="adj" fmla="val 11538"/>
            </a:avLst>
          </a:prstGeom>
          <a:solidFill>
            <a:srgbClr val="3DB6E8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394960" y="59253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2 OF 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OCOS: A Market Prioritization Matrix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positioning using publicly known market traits — to be recalibrated with Titan's internal city-level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1828800"/>
            <a:ext cx="6035040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886200"/>
            <a:ext cx="6035040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828800"/>
            <a:ext cx="0" cy="411480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60167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Brand-Trust Sensitivity -&gt;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 rot="16200000">
            <a:off x="-13258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Readiness -&gt;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06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17190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599846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35624" y="4590288"/>
            <a:ext cx="237744" cy="237744"/>
          </a:xfrm>
          <a:prstGeom prst="ellipse">
            <a:avLst/>
          </a:prstGeom>
          <a:solidFill>
            <a:srgbClr val="FF91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32120" y="5001768"/>
            <a:ext cx="237744" cy="237744"/>
          </a:xfrm>
          <a:prstGeom prst="ellipse">
            <a:avLst/>
          </a:prstGeom>
          <a:solidFill>
            <a:srgbClr val="FFD16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25112" y="3355848"/>
            <a:ext cx="237744" cy="237744"/>
          </a:xfrm>
          <a:prstGeom prst="ellipse">
            <a:avLst/>
          </a:prstGeom>
          <a:solidFill>
            <a:srgbClr val="EF476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14600" y="2121408"/>
            <a:ext cx="237744" cy="237744"/>
          </a:xfrm>
          <a:prstGeom prst="ellipse">
            <a:avLst/>
          </a:prstGeom>
          <a:solidFill>
            <a:srgbClr val="3DB6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6355080"/>
            <a:ext cx="109728" cy="109728"/>
          </a:xfrm>
          <a:prstGeom prst="ellipse">
            <a:avLst/>
          </a:prstGeom>
          <a:solidFill>
            <a:srgbClr val="FF914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87552" y="6254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City Centers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514600" y="6355080"/>
            <a:ext cx="109728" cy="1097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679192" y="6254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Tier-3 Towns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206240" y="6355080"/>
            <a:ext cx="109728" cy="109728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370832" y="6254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Premium Malls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897880" y="6355080"/>
            <a:ext cx="109728" cy="109728"/>
          </a:xfrm>
          <a:prstGeom prst="ellipse">
            <a:avLst/>
          </a:prstGeom>
          <a:solidFill>
            <a:srgbClr val="3DB6E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062472" y="6254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Metro (Online-Savvy)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15727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Brand-Trust Sensitivity (x)  vs.  E-Commerce Readiness (y)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589520" y="16916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DE9F0"/>
          </a:solidFill>
          <a:ln/>
        </p:spPr>
      </p:sp>
      <p:sp>
        <p:nvSpPr>
          <p:cNvPr id="31" name="Shape 28"/>
          <p:cNvSpPr/>
          <p:nvPr/>
        </p:nvSpPr>
        <p:spPr>
          <a:xfrm>
            <a:off x="7818120" y="1892808"/>
            <a:ext cx="146304" cy="146304"/>
          </a:xfrm>
          <a:prstGeom prst="ellipse">
            <a:avLst/>
          </a:prstGeom>
          <a:solidFill>
            <a:srgbClr val="FF914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092440" y="18196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— Offline Priority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220370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trust-sensitivity, low e-commerce readiness: lead with trust-led stores (Tier-2/3 towns).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7589520" y="315468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DE9F0"/>
          </a:solidFill>
          <a:ln/>
        </p:spPr>
      </p:sp>
      <p:sp>
        <p:nvSpPr>
          <p:cNvPr id="35" name="Shape 32"/>
          <p:cNvSpPr/>
          <p:nvPr/>
        </p:nvSpPr>
        <p:spPr>
          <a:xfrm>
            <a:off x="7818120" y="3355848"/>
            <a:ext cx="146304" cy="146304"/>
          </a:xfrm>
          <a:prstGeom prst="ellipse">
            <a:avLst/>
          </a:prstGeom>
          <a:solidFill>
            <a:srgbClr val="3DB6E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092440" y="328269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— E-Commerce Only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7863840" y="366674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trust-sensitivity, high e-commerce readiness: compete on Titan's app, not new stores.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7589520" y="46177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DE9F0"/>
          </a:solidFill>
          <a:ln/>
        </p:spPr>
      </p:sp>
      <p:sp>
        <p:nvSpPr>
          <p:cNvPr id="39" name="Shape 36"/>
          <p:cNvSpPr/>
          <p:nvPr/>
        </p:nvSpPr>
        <p:spPr>
          <a:xfrm>
            <a:off x="7818120" y="4818888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092440" y="47457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— Selective Push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7863840" y="512978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profile: defend with premium, experience-led formats (Metro malls).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DE9F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6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3 OF 3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Go-To-Market: A Dual-Channel, Phased Rollout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4173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DE9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63240" y="130759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F6C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80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163677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 ·  Months 1–6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2075688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trust-led store expansion in top-scoring Tier-2 cities; relaunch e-commerce with remote eye-test capability.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14173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1F3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66560" y="130759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F6C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800" dirty="0"/>
          </a:p>
        </p:txBody>
      </p:sp>
      <p:sp>
        <p:nvSpPr>
          <p:cNvPr id="14" name="Text 11"/>
          <p:cNvSpPr txBox="1"/>
          <p:nvPr/>
        </p:nvSpPr>
        <p:spPr>
          <a:xfrm>
            <a:off x="4471416" y="163677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 ·  Months 7–18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471416" y="2075688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Tier-2/3 store count by 300+; add regional-language app support and home try-on logistics.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55280" y="14173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DE9F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469880" y="130759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800" b="1" dirty="0">
                <a:solidFill>
                  <a:srgbClr val="F6C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800" dirty="0"/>
          </a:p>
        </p:txBody>
      </p:sp>
      <p:sp>
        <p:nvSpPr>
          <p:cNvPr id="18" name="Text 15"/>
          <p:cNvSpPr txBox="1"/>
          <p:nvPr/>
        </p:nvSpPr>
        <p:spPr>
          <a:xfrm>
            <a:off x="8174736" y="163677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&amp; Compound  ·  Months 19–48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174736" y="2075688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premium in-mall formats to defend Metro share; reinvest margin advantage into further penetration.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3E255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6868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Dual-Channel, Not Just One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6634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offline-only cedes the fastest-growing, tech-savvy urban segment to Lenskart permanently. Going online-only wastes Titan's single biggest asset — a trusted brand and retail relationships that online-only players spend years and heavily on marketing to build. The dual-channel sequence lets Titan compete where it's strong first, then close the digital gap with a funded, proven playbook.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57307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E2554"/>
          </a:solidFill>
          <a:ln/>
        </p:spPr>
      </p:sp>
      <p:pic>
        <p:nvPicPr>
          <p:cNvPr id="4" name="Image 0" descr="icons/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8" y="414040"/>
            <a:ext cx="342351" cy="3423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5303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Financial Impact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9050">
            <a:solidFill>
              <a:srgbClr val="FF91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5544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57307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" y="17373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₹1,600Cr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560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eyewear revenue within 4 years (2x FY25's ₹796Cr)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15544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57307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133088" y="17373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10%+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133088" y="2560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 maintained through the growth phase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7452360" y="1554480"/>
          <a:ext cx="42519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7200" y="3611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are analyst projections built on a stated methodology — not company-disclosed targets — and are intended as a defensible, assumption-transparent basis for the recommendation above.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4343400"/>
            <a:ext cx="11247120" cy="0"/>
          </a:xfrm>
          <a:prstGeom prst="line">
            <a:avLst/>
          </a:prstGeom>
          <a:noFill/>
          <a:ln w="12700">
            <a:solidFill>
              <a:srgbClr val="6B4A8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doesn't need to beat Lenskart at Lenskart's game. It needs to convert its trust advantage into share of the 80% of the market that's still unbranded.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3E25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Methodology Notes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FDE9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6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73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116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eyewear market: $6.10B in 2024 (up from $3.17B in 2014), 7.54% CAGR to 2028 — third-party market research and industry case coverage.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FDE9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673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 Financials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0116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count (2,137 India / 2,806 global), FY25 revenue (₹6,652.5Cr), PAT (₹297Cr), and 41% organized-market share — reported ahead of its Nov 2025 IPO.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1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4290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6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56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Financials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947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count (~900, 350 cities), FY25 revenue (₹796Cr), EBIT margin (10.7%) — company disclosures and IPO-comparison press coverage.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355080" y="329184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1F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34290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456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Company Mix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7947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consolidated revenue (₹57,143Cr) and segment breakdown (Jewellery, Watches, Eyecare, Emerging) — company quarterly/annual filings.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FDE9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2120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6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239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Calculation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577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80%/20% organized-vs-unorganized split and $4.88B SAM are calculated from the disclosed TAM using the reported unorganized-market share.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355080" y="507492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FDE9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52120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2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5239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2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Analysis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5577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OCOS framework, market-matrix positioning, GTM phasing, and financial-impact projections are original analysis, not disclosed Titan targets.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91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Eye+ — Scaling to Compete in India's Eyewear Market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1380</Words>
  <Application>Microsoft Office PowerPoint</Application>
  <PresentationFormat>Widescreen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TANAY RAJ</cp:lastModifiedBy>
  <cp:revision>2</cp:revision>
  <dcterms:created xsi:type="dcterms:W3CDTF">2026-09-25T00:17:26Z</dcterms:created>
  <dcterms:modified xsi:type="dcterms:W3CDTF">2026-09-25T06:12:51Z</dcterms:modified>
</cp:coreProperties>
</file>